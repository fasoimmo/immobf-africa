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2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A5C4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886200"/>
            <a:ext cx="9144000" cy="1257300"/>
          </a:xfrm>
          <a:prstGeom prst="rect">
            <a:avLst/>
          </a:prstGeom>
          <a:solidFill>
            <a:srgbClr val="0A3D33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4173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ImmoBF Africa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immobilière de l'Afrique de l'Ouest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66344" y="2944368"/>
            <a:ext cx="1554480" cy="329184"/>
          </a:xfrm>
          <a:prstGeom prst="roundRect">
            <a:avLst>
              <a:gd name="adj" fmla="val 33333"/>
            </a:avLst>
          </a:prstGeom>
          <a:solidFill>
            <a:srgbClr val="1A4A40"/>
          </a:solidFill>
          <a:ln w="12700">
            <a:solidFill>
              <a:srgbClr val="2A7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" y="29443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Web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30552" y="2944368"/>
            <a:ext cx="1554480" cy="329184"/>
          </a:xfrm>
          <a:prstGeom prst="roundRect">
            <a:avLst>
              <a:gd name="adj" fmla="val 33333"/>
            </a:avLst>
          </a:prstGeom>
          <a:solidFill>
            <a:srgbClr val="1A4A40"/>
          </a:solidFill>
          <a:ln w="12700">
            <a:solidFill>
              <a:srgbClr val="2A7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0552" y="29443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Android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94760" y="2944368"/>
            <a:ext cx="1554480" cy="329184"/>
          </a:xfrm>
          <a:prstGeom prst="roundRect">
            <a:avLst>
              <a:gd name="adj" fmla="val 33333"/>
            </a:avLst>
          </a:prstGeom>
          <a:solidFill>
            <a:srgbClr val="1A4A40"/>
          </a:solidFill>
          <a:ln w="12700">
            <a:solidFill>
              <a:srgbClr val="2A7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29443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Géolocalisation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58968" y="2944368"/>
            <a:ext cx="1554480" cy="329184"/>
          </a:xfrm>
          <a:prstGeom prst="roundRect">
            <a:avLst>
              <a:gd name="adj" fmla="val 33333"/>
            </a:avLst>
          </a:prstGeom>
          <a:solidFill>
            <a:srgbClr val="1A4A40"/>
          </a:solidFill>
          <a:ln w="12700">
            <a:solidFill>
              <a:srgbClr val="2A7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58968" y="29443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Mobile Money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23176" y="2944368"/>
            <a:ext cx="1554480" cy="329184"/>
          </a:xfrm>
          <a:prstGeom prst="roundRect">
            <a:avLst>
              <a:gd name="adj" fmla="val 33333"/>
            </a:avLst>
          </a:prstGeom>
          <a:solidFill>
            <a:srgbClr val="1A4A40"/>
          </a:solidFill>
          <a:ln w="12700">
            <a:solidFill>
              <a:srgbClr val="2A7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23176" y="29443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🇧🇫 🇨🇮 🇸🇳 🇲🇱…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0" y="45902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guidée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F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E7C6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compte en 3 étapes — Gratuit, aucune carte requise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85039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E7C66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850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Informations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10128" y="960120"/>
            <a:ext cx="1097280" cy="3657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" name="Shape 8"/>
          <p:cNvSpPr/>
          <p:nvPr/>
        </p:nvSpPr>
        <p:spPr>
          <a:xfrm>
            <a:off x="4425696" y="85039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E0E0E0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850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Email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07024" y="960120"/>
            <a:ext cx="1097280" cy="3657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" name="Shape 11"/>
          <p:cNvSpPr/>
          <p:nvPr/>
        </p:nvSpPr>
        <p:spPr>
          <a:xfrm>
            <a:off x="7022592" y="85039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E0E0E0"/>
          </a:solidFill>
          <a:ln/>
        </p:spPr>
      </p:sp>
      <p:sp>
        <p:nvSpPr>
          <p:cNvPr id="14" name="Text 12"/>
          <p:cNvSpPr/>
          <p:nvPr/>
        </p:nvSpPr>
        <p:spPr>
          <a:xfrm>
            <a:off x="7022592" y="850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Confirmé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234440"/>
            <a:ext cx="4434840" cy="3675888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135331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compte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1755648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COMPLET *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7200" y="1920240"/>
            <a:ext cx="4069080" cy="256032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192024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nom…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2304288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EMAIL *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468880"/>
            <a:ext cx="4069080" cy="256032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46888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votre@email.com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2852928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*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4069080" cy="256032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01752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3401568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 (OPTIONNEL)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4069080" cy="256032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56616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+226 78 48 92 70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087368"/>
            <a:ext cx="4069080" cy="329184"/>
          </a:xfrm>
          <a:prstGeom prst="roundRect">
            <a:avLst>
              <a:gd name="adj" fmla="val 16667"/>
            </a:avLst>
          </a:prstGeom>
          <a:solidFill>
            <a:srgbClr val="0E7C66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08736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S'inscrire gratuitement 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46227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un compte ? Se connecter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83480" y="1234440"/>
            <a:ext cx="3840480" cy="2286000"/>
          </a:xfrm>
          <a:prstGeom prst="roundRect">
            <a:avLst>
              <a:gd name="adj" fmla="val 3200"/>
            </a:avLst>
          </a:prstGeom>
          <a:solidFill>
            <a:srgbClr val="E8F5F0"/>
          </a:solidFill>
          <a:ln w="12700">
            <a:solidFill>
              <a:srgbClr val="0E7C6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166360" y="1353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Ce que vous pourrez faire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66360" y="17190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Publier des annonces immobilières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166360" y="2057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Accéder à toutes les annonces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166360" y="23957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Contacter les annonceurs via WhatsApp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166360" y="27340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Réserver via mobile money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66360" y="30723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Géolocaliser vos annonces sur carte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66360" y="34107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Sauvegarder vos favoris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983480" y="3630168"/>
            <a:ext cx="3840480" cy="1261872"/>
          </a:xfrm>
          <a:prstGeom prst="roundRect">
            <a:avLst>
              <a:gd name="adj" fmla="val 5797"/>
            </a:avLst>
          </a:prstGeom>
          <a:solidFill>
            <a:srgbClr val="FFF3E0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166360" y="37307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Sécurité &amp; confidentialité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66360" y="40050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données sont chiffrées et ne sont jamais partagées à des tiers. Paiements sécurisés par des opérateurs agréés.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F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E7C6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— Étape 1/3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Remplir le formulaire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email et mot de passe sécurisé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85039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E7C66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850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Informations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10128" y="960120"/>
            <a:ext cx="1097280" cy="3657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" name="Shape 8"/>
          <p:cNvSpPr/>
          <p:nvPr/>
        </p:nvSpPr>
        <p:spPr>
          <a:xfrm>
            <a:off x="4425696" y="85039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E0E0E0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850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Email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07024" y="960120"/>
            <a:ext cx="1097280" cy="3657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" name="Shape 11"/>
          <p:cNvSpPr/>
          <p:nvPr/>
        </p:nvSpPr>
        <p:spPr>
          <a:xfrm>
            <a:off x="7022592" y="85039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E0E0E0"/>
          </a:solidFill>
          <a:ln/>
        </p:spPr>
      </p:sp>
      <p:sp>
        <p:nvSpPr>
          <p:cNvPr id="14" name="Text 12"/>
          <p:cNvSpPr/>
          <p:nvPr/>
        </p:nvSpPr>
        <p:spPr>
          <a:xfrm>
            <a:off x="7022592" y="850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Confirmé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234440"/>
            <a:ext cx="443484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13258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d'inscription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1691640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COMPLET *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7200" y="1856232"/>
            <a:ext cx="406908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1856232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 Mad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2221992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EMAIL *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386584"/>
            <a:ext cx="406908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386584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baba.mad@gmail.com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2752344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*  ● ● ● FORT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2916936"/>
            <a:ext cx="406908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916936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••••••••••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3282696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MOT DE PASSE *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7200" y="3447288"/>
            <a:ext cx="406908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447288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••••••••••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3813048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57200" y="3977640"/>
            <a:ext cx="406908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97764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+226 78 48 92 70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526280"/>
            <a:ext cx="4069080" cy="329184"/>
          </a:xfrm>
          <a:prstGeom prst="roundRect">
            <a:avLst>
              <a:gd name="adj" fmla="val 16667"/>
            </a:avLst>
          </a:prstGeom>
          <a:solidFill>
            <a:srgbClr val="0E7C66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52628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S'inscrire gratuitement 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83480" y="1234440"/>
            <a:ext cx="3840480" cy="2423160"/>
          </a:xfrm>
          <a:prstGeom prst="roundRect">
            <a:avLst>
              <a:gd name="adj" fmla="val 3019"/>
            </a:avLst>
          </a:prstGeom>
          <a:solidFill>
            <a:srgbClr val="E8F5F0"/>
          </a:solidFill>
          <a:ln w="12700">
            <a:solidFill>
              <a:srgbClr val="0E7C6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166360" y="1353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Conseils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66360" y="171907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 valide — vous recevrez un lien de confirmation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166360" y="224028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Mot de passe — min. 8 caractères, maj + chiffres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66360" y="276148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Téléphone — utile pour être rappelé par les acheteurs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66360" y="328269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Tous vos champs sont valides (bordures vertes)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983480" y="3767328"/>
            <a:ext cx="3840480" cy="1261872"/>
          </a:xfrm>
          <a:prstGeom prst="roundRect">
            <a:avLst>
              <a:gd name="adj" fmla="val 5797"/>
            </a:avLst>
          </a:prstGeom>
          <a:solidFill>
            <a:srgbClr val="FFF8E1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166360" y="38587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Conditions d'utilisation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66360" y="416052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vous inscrivant, vous acceptez les Conditions Générales d'Utilisation et la Politique de confidentialité d'ImmoBF Africa.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F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E7C6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— Étape 2/3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email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lien de confirmation vous a été envoyé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85039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388E3C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850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Informations ✓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10128" y="960120"/>
            <a:ext cx="1097280" cy="36576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0" name="Shape 8"/>
          <p:cNvSpPr/>
          <p:nvPr/>
        </p:nvSpPr>
        <p:spPr>
          <a:xfrm>
            <a:off x="4425696" y="85039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E7C66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850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Email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07024" y="960120"/>
            <a:ext cx="1097280" cy="3657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" name="Shape 11"/>
          <p:cNvSpPr/>
          <p:nvPr/>
        </p:nvSpPr>
        <p:spPr>
          <a:xfrm>
            <a:off x="7022592" y="85039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E0E0E0"/>
          </a:solidFill>
          <a:ln/>
        </p:spPr>
      </p:sp>
      <p:sp>
        <p:nvSpPr>
          <p:cNvPr id="14" name="Text 12"/>
          <p:cNvSpPr/>
          <p:nvPr/>
        </p:nvSpPr>
        <p:spPr>
          <a:xfrm>
            <a:off x="7022592" y="850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Confirmé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0" y="129844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📧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14400" y="19659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Vérifiez votre boîte mail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23957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email de confirmation a été envoyé à  baba.mad@gmail.com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371600" y="2798064"/>
            <a:ext cx="6400800" cy="1938528"/>
          </a:xfrm>
          <a:prstGeom prst="roundRect">
            <a:avLst>
              <a:gd name="adj" fmla="val 3774"/>
            </a:avLst>
          </a:prstGeom>
          <a:solidFill>
            <a:srgbClr val="E8F5F0"/>
          </a:solidFill>
          <a:ln w="12700">
            <a:solidFill>
              <a:srgbClr val="0E7C6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554480" y="288950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  Exemple d'email reçu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554480" y="3200400"/>
            <a:ext cx="60350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737360" y="32735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: noreply@immoafrica.online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4564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: Confirmez votre compte ImmoBF Africa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37360" y="3657600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Bonjour BABA Mad, cliquez sur le bouton ci-dessous pour confirmer votre adresse email.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51760" y="3950208"/>
            <a:ext cx="3840480" cy="310896"/>
          </a:xfrm>
          <a:prstGeom prst="roundRect">
            <a:avLst>
              <a:gd name="adj" fmla="val 17647"/>
            </a:avLst>
          </a:prstGeom>
          <a:solidFill>
            <a:srgbClr val="0E7C66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39502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Confirmer mon adresse email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71600" y="47548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reçu ? Vérifiez les spams ou cliquez sur 'Renvoyer le lien'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F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E7C6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— Étape 3/3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activé — Bienvenue !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566928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388E3C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566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Informations ✓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425696" y="566928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388E3C"/>
          </a:solidFill>
          <a:ln/>
        </p:spPr>
      </p:sp>
      <p:sp>
        <p:nvSpPr>
          <p:cNvPr id="9" name="Text 7"/>
          <p:cNvSpPr/>
          <p:nvPr/>
        </p:nvSpPr>
        <p:spPr>
          <a:xfrm>
            <a:off x="4425696" y="566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Email ✓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022592" y="566928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388E3C"/>
          </a:solidFill>
          <a:ln/>
        </p:spPr>
      </p:sp>
      <p:sp>
        <p:nvSpPr>
          <p:cNvPr id="11" name="Text 9"/>
          <p:cNvSpPr/>
          <p:nvPr/>
        </p:nvSpPr>
        <p:spPr>
          <a:xfrm>
            <a:off x="7022592" y="566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Confirmé ✓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10128" y="676656"/>
            <a:ext cx="1115568" cy="36576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3" name="Shape 11"/>
          <p:cNvSpPr/>
          <p:nvPr/>
        </p:nvSpPr>
        <p:spPr>
          <a:xfrm>
            <a:off x="5907024" y="676656"/>
            <a:ext cx="1115568" cy="36576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960120"/>
            <a:ext cx="44348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107899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🎉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57200" y="17190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Bienvenue, BABA Mad 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212140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compte est créé et vérifié.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pouvez maintenant publier des annonces.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2743200"/>
            <a:ext cx="3703320" cy="329184"/>
          </a:xfrm>
          <a:prstGeom prst="roundRect">
            <a:avLst>
              <a:gd name="adj" fmla="val 16667"/>
            </a:avLst>
          </a:prstGeom>
          <a:solidFill>
            <a:srgbClr val="0E7C6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74320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Publier ma première annonce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154680"/>
            <a:ext cx="37033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E7C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5468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Parcourir les annonces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566160"/>
            <a:ext cx="37033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E7C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56616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Explorer la carte interactive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83480" y="960120"/>
            <a:ext cx="3840480" cy="237744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66360" y="1078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Mon Profil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66360" y="14447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91072" y="1444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 Mad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66360" y="18105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91072" y="18105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baba.mad@gmail.com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2176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 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91072" y="21762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+226 78 48 92 70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66360" y="2542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 depuis 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91072" y="25420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 2026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66360" y="29077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91072" y="29077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Compte vérifié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83480" y="3447288"/>
            <a:ext cx="3840480" cy="1444752"/>
          </a:xfrm>
          <a:prstGeom prst="roundRect">
            <a:avLst>
              <a:gd name="adj" fmla="val 5063"/>
            </a:avLst>
          </a:prstGeom>
          <a:solidFill>
            <a:srgbClr val="FFF3E0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166360" y="3547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Conseil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3840480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Complétez votre profil avec une photo et votre ville pour augmenter la confiance des acheteurs et vendeurs.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F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E7C6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catégories d'annonces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· Location longue durée · Court séjour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868680"/>
            <a:ext cx="2633472" cy="1572768"/>
          </a:xfrm>
          <a:prstGeom prst="roundRect">
            <a:avLst>
              <a:gd name="adj" fmla="val 4651"/>
            </a:avLst>
          </a:prstGeom>
          <a:solidFill>
            <a:srgbClr val="E8F5F0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7840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A8D5C2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784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24712" y="9966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Villa, maison individuelle, duplex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075688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· Location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35808" y="868680"/>
            <a:ext cx="2633472" cy="1572768"/>
          </a:xfrm>
          <a:prstGeom prst="roundRect">
            <a:avLst>
              <a:gd name="adj" fmla="val 4651"/>
            </a:avLst>
          </a:prstGeom>
          <a:solidFill>
            <a:srgbClr val="E3F2FD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45536" y="97840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90CAF9"/>
          </a:solidFill>
          <a:ln/>
        </p:spPr>
      </p:sp>
      <p:sp>
        <p:nvSpPr>
          <p:cNvPr id="15" name="Text 13"/>
          <p:cNvSpPr/>
          <p:nvPr/>
        </p:nvSpPr>
        <p:spPr>
          <a:xfrm>
            <a:off x="3145536" y="9784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904488" y="9966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Appartement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45536" y="1691640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Studio, F2, F3, résidence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45536" y="2075688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· Location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15584" y="868680"/>
            <a:ext cx="2633472" cy="1572768"/>
          </a:xfrm>
          <a:prstGeom prst="roundRect">
            <a:avLst>
              <a:gd name="adj" fmla="val 4651"/>
            </a:avLst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25312" y="97840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CC80"/>
          </a:solidFill>
          <a:ln/>
        </p:spPr>
      </p:sp>
      <p:sp>
        <p:nvSpPr>
          <p:cNvPr id="21" name="Text 19"/>
          <p:cNvSpPr/>
          <p:nvPr/>
        </p:nvSpPr>
        <p:spPr>
          <a:xfrm>
            <a:off x="5925312" y="9784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84264" y="9966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25312" y="1691640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Parcelle, lot, terrain agricole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25312" y="2075688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uniquement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2569464"/>
            <a:ext cx="2633472" cy="1572768"/>
          </a:xfrm>
          <a:prstGeom prst="roundRect">
            <a:avLst>
              <a:gd name="adj" fmla="val 4651"/>
            </a:avLst>
          </a:prstGeom>
          <a:solidFill>
            <a:srgbClr val="F3E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6791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CE93D8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26791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24712" y="26974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Commercial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3392424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Boutique, entrepôt, bureau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3776472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· Location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035808" y="2569464"/>
            <a:ext cx="2633472" cy="1572768"/>
          </a:xfrm>
          <a:prstGeom prst="roundRect">
            <a:avLst>
              <a:gd name="adj" fmla="val 4651"/>
            </a:avLst>
          </a:prstGeom>
          <a:solidFill>
            <a:srgbClr val="FCE4EC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45536" y="26791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48FB1"/>
          </a:solidFill>
          <a:ln/>
        </p:spPr>
      </p:sp>
      <p:sp>
        <p:nvSpPr>
          <p:cNvPr id="33" name="Text 31"/>
          <p:cNvSpPr/>
          <p:nvPr/>
        </p:nvSpPr>
        <p:spPr>
          <a:xfrm>
            <a:off x="3145536" y="26791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🌙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904488" y="26974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Séjour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145536" y="3392424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Nuitée, week-end, vacances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145536" y="3776472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/ nuit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815584" y="2569464"/>
            <a:ext cx="2633472" cy="1572768"/>
          </a:xfrm>
          <a:prstGeom prst="roundRect">
            <a:avLst>
              <a:gd name="adj" fmla="val 4651"/>
            </a:avLst>
          </a:prstGeom>
          <a:solidFill>
            <a:srgbClr val="E8EAF6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25312" y="267919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9FA8DA"/>
          </a:solidFill>
          <a:ln/>
        </p:spPr>
      </p:sp>
      <p:sp>
        <p:nvSpPr>
          <p:cNvPr id="39" name="Text 37"/>
          <p:cNvSpPr/>
          <p:nvPr/>
        </p:nvSpPr>
        <p:spPr>
          <a:xfrm>
            <a:off x="5925312" y="26791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684264" y="26974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925312" y="3392424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villa, propriété de luxe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25312" y="3776472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· Location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F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E7C6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— Exemple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Maison · Vente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Villa 4 pièces meublée, Ouaga 2000 — 45 000 000 FCFA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868680"/>
            <a:ext cx="5074920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" y="987552"/>
            <a:ext cx="2331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*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38912" y="1152144"/>
            <a:ext cx="233172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152144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🇧🇫  Burkina Faso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880360" y="987552"/>
            <a:ext cx="2331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 *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880360" y="1152144"/>
            <a:ext cx="233172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1152144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Ouagadougou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527048"/>
            <a:ext cx="2331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*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38912" y="1691640"/>
            <a:ext cx="233172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1691640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Vente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80360" y="1527048"/>
            <a:ext cx="2331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BIEN *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880360" y="1691640"/>
            <a:ext cx="233172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53512" y="1691640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Maison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8912" y="2066544"/>
            <a:ext cx="4773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DE L'ANNONCE *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38912" y="2231136"/>
            <a:ext cx="4773168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2231136"/>
            <a:ext cx="4626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 villa 4 pièces meublée, Ouaga 2000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" y="2606040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*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38912" y="2770632"/>
            <a:ext cx="150876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" y="277063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45 000 000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057400" y="2606040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057400" y="2770632"/>
            <a:ext cx="150876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30552" y="277063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75888" y="2606040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CHAMBRES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75888" y="2770632"/>
            <a:ext cx="150876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277063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8912" y="3145536"/>
            <a:ext cx="2331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38912" y="3310128"/>
            <a:ext cx="233172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3310128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m²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880360" y="3145536"/>
            <a:ext cx="2331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MEUBLÉE ?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880360" y="3310128"/>
            <a:ext cx="233172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53512" y="3310128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Oui — Meublée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38912" y="4480560"/>
            <a:ext cx="4773168" cy="329184"/>
          </a:xfrm>
          <a:prstGeom prst="roundRect">
            <a:avLst>
              <a:gd name="adj" fmla="val 16667"/>
            </a:avLst>
          </a:prstGeom>
          <a:solidFill>
            <a:srgbClr val="0E7C66"/>
          </a:solidFill>
          <a:ln/>
        </p:spPr>
      </p:sp>
      <p:sp>
        <p:nvSpPr>
          <p:cNvPr id="39" name="Text 37"/>
          <p:cNvSpPr/>
          <p:nvPr/>
        </p:nvSpPr>
        <p:spPr>
          <a:xfrm>
            <a:off x="438912" y="4480560"/>
            <a:ext cx="4773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— Payer 5 000 FCFA →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577840" y="868680"/>
            <a:ext cx="3310128" cy="42245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715000" y="9601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(jusqu'à 10)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715000" y="1188720"/>
            <a:ext cx="1389888" cy="749808"/>
          </a:xfrm>
          <a:prstGeom prst="roundRect">
            <a:avLst>
              <a:gd name="adj" fmla="val 7317"/>
            </a:avLst>
          </a:prstGeom>
          <a:solidFill>
            <a:srgbClr val="A8D5C2"/>
          </a:solidFill>
          <a:ln/>
        </p:spPr>
      </p:sp>
      <p:sp>
        <p:nvSpPr>
          <p:cNvPr id="43" name="Text 41"/>
          <p:cNvSpPr/>
          <p:nvPr/>
        </p:nvSpPr>
        <p:spPr>
          <a:xfrm>
            <a:off x="5715000" y="1188720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44" name="Shape 42"/>
          <p:cNvSpPr/>
          <p:nvPr/>
        </p:nvSpPr>
        <p:spPr>
          <a:xfrm>
            <a:off x="7251192" y="1188720"/>
            <a:ext cx="1389888" cy="749808"/>
          </a:xfrm>
          <a:prstGeom prst="roundRect">
            <a:avLst>
              <a:gd name="adj" fmla="val 7317"/>
            </a:avLst>
          </a:prstGeom>
          <a:solidFill>
            <a:srgbClr val="B2DFDB"/>
          </a:solidFill>
          <a:ln/>
        </p:spPr>
      </p:sp>
      <p:sp>
        <p:nvSpPr>
          <p:cNvPr id="45" name="Text 43"/>
          <p:cNvSpPr/>
          <p:nvPr/>
        </p:nvSpPr>
        <p:spPr>
          <a:xfrm>
            <a:off x="7251192" y="1188720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🛋️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5715000" y="2084832"/>
            <a:ext cx="1389888" cy="749808"/>
          </a:xfrm>
          <a:prstGeom prst="roundRect">
            <a:avLst>
              <a:gd name="adj" fmla="val 7317"/>
            </a:avLst>
          </a:prstGeom>
          <a:solidFill>
            <a:srgbClr val="80CBC4"/>
          </a:solidFill>
          <a:ln/>
        </p:spPr>
      </p:sp>
      <p:sp>
        <p:nvSpPr>
          <p:cNvPr id="47" name="Text 45"/>
          <p:cNvSpPr/>
          <p:nvPr/>
        </p:nvSpPr>
        <p:spPr>
          <a:xfrm>
            <a:off x="5715000" y="2084832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🛏️</a:t>
            </a:r>
            <a:endParaRPr lang="en-US" sz="2400" dirty="0"/>
          </a:p>
        </p:txBody>
      </p:sp>
      <p:sp>
        <p:nvSpPr>
          <p:cNvPr id="48" name="Shape 46"/>
          <p:cNvSpPr/>
          <p:nvPr/>
        </p:nvSpPr>
        <p:spPr>
          <a:xfrm>
            <a:off x="7251192" y="2084832"/>
            <a:ext cx="1389888" cy="749808"/>
          </a:xfrm>
          <a:prstGeom prst="roundRect">
            <a:avLst>
              <a:gd name="adj" fmla="val 7317"/>
            </a:avLst>
          </a:prstGeom>
          <a:solidFill>
            <a:srgbClr val="C8E6C9"/>
          </a:solidFill>
          <a:ln/>
        </p:spPr>
      </p:sp>
      <p:sp>
        <p:nvSpPr>
          <p:cNvPr id="49" name="Text 47"/>
          <p:cNvSpPr/>
          <p:nvPr/>
        </p:nvSpPr>
        <p:spPr>
          <a:xfrm>
            <a:off x="7251192" y="2084832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🍳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5715000" y="30540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715000" y="3273552"/>
            <a:ext cx="3035808" cy="1572768"/>
          </a:xfrm>
          <a:prstGeom prst="roundRect">
            <a:avLst>
              <a:gd name="adj" fmla="val 4651"/>
            </a:avLst>
          </a:prstGeom>
          <a:solidFill>
            <a:srgbClr val="E8F5F0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833872" y="3364992"/>
            <a:ext cx="27980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moderne, 4 chambres, 2 salles de bains, salon spacieux, cuisine équipée. Parking 2 voitures. Quartier calme et sécurisé, proche écoles et marchés.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715000" y="4901184"/>
            <a:ext cx="3035808" cy="182880"/>
          </a:xfrm>
          <a:prstGeom prst="roundRect">
            <a:avLst>
              <a:gd name="adj" fmla="val 20000"/>
            </a:avLst>
          </a:prstGeom>
          <a:solidFill>
            <a:srgbClr val="E8F5F0"/>
          </a:solidFill>
          <a:ln/>
        </p:spPr>
      </p:sp>
      <p:sp>
        <p:nvSpPr>
          <p:cNvPr id="54" name="Text 52"/>
          <p:cNvSpPr/>
          <p:nvPr/>
        </p:nvSpPr>
        <p:spPr>
          <a:xfrm>
            <a:off x="5715000" y="4901184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GPS automatique activé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F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E7C6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— Exemple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Appartement · Location longue durée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F3 lumineux à Cocody, Abidjan — 180 000 FCFA/mois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868680"/>
            <a:ext cx="5074920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" y="987552"/>
            <a:ext cx="2331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*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38912" y="1152144"/>
            <a:ext cx="233172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152144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🇨🇮  Côte d'Ivoire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880360" y="987552"/>
            <a:ext cx="2331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 *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880360" y="1152144"/>
            <a:ext cx="233172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1152144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Abidjan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527048"/>
            <a:ext cx="2331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*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38912" y="1691640"/>
            <a:ext cx="233172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1691640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Location longue durée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80360" y="1527048"/>
            <a:ext cx="2331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BIEN *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880360" y="1691640"/>
            <a:ext cx="233172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53512" y="1691640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Appartement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8912" y="2066544"/>
            <a:ext cx="4773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DE L'ANNONCE *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38912" y="2231136"/>
            <a:ext cx="4773168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2231136"/>
            <a:ext cx="4626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lumineux, Cocody, résidence gardiennée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" y="2606040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LOYER/MOIS *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38912" y="2770632"/>
            <a:ext cx="150876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" y="277063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180 000 FCFA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057400" y="2606040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057400" y="2770632"/>
            <a:ext cx="150876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30552" y="277063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m²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75888" y="2606040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CHAMBRES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75888" y="2770632"/>
            <a:ext cx="150876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277063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ch.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8912" y="3145536"/>
            <a:ext cx="2331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MEUBLÉ ?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38912" y="3310128"/>
            <a:ext cx="233172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3310128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Non meublé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880360" y="3145536"/>
            <a:ext cx="2331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880360" y="3310128"/>
            <a:ext cx="233172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53512" y="3310128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360 000 FCFA (2 mois)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38912" y="4480560"/>
            <a:ext cx="4773168" cy="329184"/>
          </a:xfrm>
          <a:prstGeom prst="roundRect">
            <a:avLst>
              <a:gd name="adj" fmla="val 16667"/>
            </a:avLst>
          </a:prstGeom>
          <a:solidFill>
            <a:srgbClr val="0E7C66"/>
          </a:solidFill>
          <a:ln/>
        </p:spPr>
      </p:sp>
      <p:sp>
        <p:nvSpPr>
          <p:cNvPr id="39" name="Text 37"/>
          <p:cNvSpPr/>
          <p:nvPr/>
        </p:nvSpPr>
        <p:spPr>
          <a:xfrm>
            <a:off x="438912" y="4480560"/>
            <a:ext cx="4773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— Payer 5 000 FCFA →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577840" y="868680"/>
            <a:ext cx="3310128" cy="42245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715000" y="9601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715000" y="1188720"/>
            <a:ext cx="1389888" cy="749808"/>
          </a:xfrm>
          <a:prstGeom prst="roundRect">
            <a:avLst>
              <a:gd name="adj" fmla="val 7317"/>
            </a:avLst>
          </a:prstGeom>
          <a:solidFill>
            <a:srgbClr val="90CAF9"/>
          </a:solidFill>
          <a:ln/>
        </p:spPr>
      </p:sp>
      <p:sp>
        <p:nvSpPr>
          <p:cNvPr id="43" name="Text 41"/>
          <p:cNvSpPr/>
          <p:nvPr/>
        </p:nvSpPr>
        <p:spPr>
          <a:xfrm>
            <a:off x="5715000" y="1188720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44" name="Shape 42"/>
          <p:cNvSpPr/>
          <p:nvPr/>
        </p:nvSpPr>
        <p:spPr>
          <a:xfrm>
            <a:off x="7251192" y="1188720"/>
            <a:ext cx="1389888" cy="749808"/>
          </a:xfrm>
          <a:prstGeom prst="roundRect">
            <a:avLst>
              <a:gd name="adj" fmla="val 7317"/>
            </a:avLst>
          </a:prstGeom>
          <a:solidFill>
            <a:srgbClr val="B3E5FC"/>
          </a:solidFill>
          <a:ln/>
        </p:spPr>
      </p:sp>
      <p:sp>
        <p:nvSpPr>
          <p:cNvPr id="45" name="Text 43"/>
          <p:cNvSpPr/>
          <p:nvPr/>
        </p:nvSpPr>
        <p:spPr>
          <a:xfrm>
            <a:off x="7251192" y="1188720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🛋️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5715000" y="2084832"/>
            <a:ext cx="1389888" cy="749808"/>
          </a:xfrm>
          <a:prstGeom prst="roundRect">
            <a:avLst>
              <a:gd name="adj" fmla="val 7317"/>
            </a:avLst>
          </a:prstGeom>
          <a:solidFill>
            <a:srgbClr val="B2EBF2"/>
          </a:solidFill>
          <a:ln/>
        </p:spPr>
      </p:sp>
      <p:sp>
        <p:nvSpPr>
          <p:cNvPr id="47" name="Text 45"/>
          <p:cNvSpPr/>
          <p:nvPr/>
        </p:nvSpPr>
        <p:spPr>
          <a:xfrm>
            <a:off x="5715000" y="2084832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🍳</a:t>
            </a:r>
            <a:endParaRPr lang="en-US" sz="2400" dirty="0"/>
          </a:p>
        </p:txBody>
      </p:sp>
      <p:sp>
        <p:nvSpPr>
          <p:cNvPr id="48" name="Shape 46"/>
          <p:cNvSpPr/>
          <p:nvPr/>
        </p:nvSpPr>
        <p:spPr>
          <a:xfrm>
            <a:off x="7251192" y="2084832"/>
            <a:ext cx="1389888" cy="749808"/>
          </a:xfrm>
          <a:prstGeom prst="roundRect">
            <a:avLst>
              <a:gd name="adj" fmla="val 7317"/>
            </a:avLst>
          </a:prstGeom>
          <a:solidFill>
            <a:srgbClr val="C8E6C9"/>
          </a:solidFill>
          <a:ln/>
        </p:spPr>
      </p:sp>
      <p:sp>
        <p:nvSpPr>
          <p:cNvPr id="49" name="Text 47"/>
          <p:cNvSpPr/>
          <p:nvPr/>
        </p:nvSpPr>
        <p:spPr>
          <a:xfrm>
            <a:off x="7251192" y="2084832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🛁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5715000" y="30540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715000" y="3273552"/>
            <a:ext cx="3035808" cy="1572768"/>
          </a:xfrm>
          <a:prstGeom prst="roundRect">
            <a:avLst>
              <a:gd name="adj" fmla="val 4651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833872" y="3364992"/>
            <a:ext cx="27980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 appartement F3 au 3ème étage, vue dégagée. Résidence sécurisée avec gardien 24h/24, parking sous-sol. Proche écoles françaises et commerces Cocody.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715000" y="4901184"/>
            <a:ext cx="3035808" cy="182880"/>
          </a:xfrm>
          <a:prstGeom prst="roundRect">
            <a:avLst>
              <a:gd name="adj" fmla="val 20000"/>
            </a:avLst>
          </a:prstGeom>
          <a:solidFill>
            <a:srgbClr val="E8F5F0"/>
          </a:solidFill>
          <a:ln/>
        </p:spPr>
      </p:sp>
      <p:sp>
        <p:nvSpPr>
          <p:cNvPr id="54" name="Text 52"/>
          <p:cNvSpPr/>
          <p:nvPr/>
        </p:nvSpPr>
        <p:spPr>
          <a:xfrm>
            <a:off x="5715000" y="4901184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GPS automatique activé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F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E7C6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— Exemples 3 &amp; 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Séjour &amp; Terrain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types d'annonces avec exemples concrets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" y="868680"/>
            <a:ext cx="4251960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960120"/>
            <a:ext cx="4069080" cy="292608"/>
          </a:xfrm>
          <a:prstGeom prst="roundRect">
            <a:avLst>
              <a:gd name="adj" fmla="val 18750"/>
            </a:avLst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9601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Court Séjour — par nuit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353312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*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84048" y="1517904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1790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🇧🇫  Burkina Faso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31720" y="1353312"/>
            <a:ext cx="20299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 *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331720" y="1517904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4872" y="1517904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Ouagadougou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1892808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*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84048" y="2057400"/>
            <a:ext cx="397764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57400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meublé climatisé, Wemtenga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243230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/ NUIT *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84048" y="2596896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59689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 FCFA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331720" y="2432304"/>
            <a:ext cx="20299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331720" y="2596896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04872" y="25968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personnes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048" y="2926080"/>
            <a:ext cx="1828800" cy="804672"/>
          </a:xfrm>
          <a:prstGeom prst="roundRect">
            <a:avLst>
              <a:gd name="adj" fmla="val 6818"/>
            </a:avLst>
          </a:prstGeom>
          <a:solidFill>
            <a:srgbClr val="FCE4EC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29260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🌙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2331720" y="2926080"/>
            <a:ext cx="2029968" cy="804672"/>
          </a:xfrm>
          <a:prstGeom prst="roundRect">
            <a:avLst>
              <a:gd name="adj" fmla="val 6818"/>
            </a:avLst>
          </a:prstGeom>
          <a:solidFill>
            <a:srgbClr val="FFCDD2"/>
          </a:solidFill>
          <a:ln/>
        </p:spPr>
      </p:sp>
      <p:sp>
        <p:nvSpPr>
          <p:cNvPr id="28" name="Text 26"/>
          <p:cNvSpPr/>
          <p:nvPr/>
        </p:nvSpPr>
        <p:spPr>
          <a:xfrm>
            <a:off x="2331720" y="2926080"/>
            <a:ext cx="2029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🛏️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84048" y="380390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048" y="4005072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FFF0F0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" y="4069080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entièrement meublé, climatisé, WiFi, eau chaude. Idéal voyageurs d'affaires. Proche aéroport et centre-ville.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048" y="4873752"/>
            <a:ext cx="3977640" cy="182880"/>
          </a:xfrm>
          <a:prstGeom prst="roundRect">
            <a:avLst>
              <a:gd name="adj" fmla="val 20000"/>
            </a:avLst>
          </a:prstGeom>
          <a:solidFill>
            <a:srgbClr val="E8F5F0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487375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GPS automatique activé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90872" y="868680"/>
            <a:ext cx="4251960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82312" y="960120"/>
            <a:ext cx="4069080" cy="292608"/>
          </a:xfrm>
          <a:prstGeom prst="roundRect">
            <a:avLst>
              <a:gd name="adj" fmla="val 18750"/>
            </a:avLst>
          </a:prstGeom>
          <a:solidFill>
            <a:srgbClr val="E65100"/>
          </a:solidFill>
          <a:ln/>
        </p:spPr>
      </p:sp>
      <p:sp>
        <p:nvSpPr>
          <p:cNvPr id="36" name="Text 34"/>
          <p:cNvSpPr/>
          <p:nvPr/>
        </p:nvSpPr>
        <p:spPr>
          <a:xfrm>
            <a:off x="4782312" y="9601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Terrain — Vente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73752" y="1353312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*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873752" y="1517904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46904" y="151790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🇸🇳  Sénégal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21424" y="1353312"/>
            <a:ext cx="20299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 *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821424" y="1517904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94576" y="1517904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Dakar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73752" y="1892808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*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873752" y="2057400"/>
            <a:ext cx="397764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46904" y="2057400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800m² viabilisé, Almadies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73752" y="243230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TOTAL *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873752" y="2596896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46904" y="259689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25 000 000 FCFA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21424" y="2432304"/>
            <a:ext cx="20299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821424" y="2596896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25968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m²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73752" y="2926080"/>
            <a:ext cx="1828800" cy="804672"/>
          </a:xfrm>
          <a:prstGeom prst="roundRect">
            <a:avLst>
              <a:gd name="adj" fmla="val 6818"/>
            </a:avLst>
          </a:prstGeom>
          <a:solidFill>
            <a:srgbClr val="FFE082"/>
          </a:solidFill>
          <a:ln/>
        </p:spPr>
      </p:sp>
      <p:sp>
        <p:nvSpPr>
          <p:cNvPr id="53" name="Text 51"/>
          <p:cNvSpPr/>
          <p:nvPr/>
        </p:nvSpPr>
        <p:spPr>
          <a:xfrm>
            <a:off x="4873752" y="29260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📐</a:t>
            </a:r>
            <a:endParaRPr lang="en-US" sz="2600" dirty="0"/>
          </a:p>
        </p:txBody>
      </p:sp>
      <p:sp>
        <p:nvSpPr>
          <p:cNvPr id="54" name="Shape 52"/>
          <p:cNvSpPr/>
          <p:nvPr/>
        </p:nvSpPr>
        <p:spPr>
          <a:xfrm>
            <a:off x="6821424" y="2926080"/>
            <a:ext cx="2029968" cy="804672"/>
          </a:xfrm>
          <a:prstGeom prst="roundRect">
            <a:avLst>
              <a:gd name="adj" fmla="val 6818"/>
            </a:avLst>
          </a:prstGeom>
          <a:solidFill>
            <a:srgbClr val="FFCC80"/>
          </a:solidFill>
          <a:ln/>
        </p:spPr>
      </p:sp>
      <p:sp>
        <p:nvSpPr>
          <p:cNvPr id="55" name="Text 53"/>
          <p:cNvSpPr/>
          <p:nvPr/>
        </p:nvSpPr>
        <p:spPr>
          <a:xfrm>
            <a:off x="6821424" y="2926080"/>
            <a:ext cx="2029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56" name="Text 54"/>
          <p:cNvSpPr/>
          <p:nvPr/>
        </p:nvSpPr>
        <p:spPr>
          <a:xfrm>
            <a:off x="4873752" y="380390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73752" y="4005072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FFF8E1"/>
          </a:solidFill>
          <a:ln w="12700">
            <a:solidFill>
              <a:srgbClr val="FFCC8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992624" y="4069080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plat, titré et viabilisé (eau, électricité, voirie). Zone résidentielle calme aux Almadies. Idéal construction villa.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873752" y="4873752"/>
            <a:ext cx="3977640" cy="182880"/>
          </a:xfrm>
          <a:prstGeom prst="roundRect">
            <a:avLst>
              <a:gd name="adj" fmla="val 20000"/>
            </a:avLst>
          </a:prstGeom>
          <a:solidFill>
            <a:srgbClr val="E8F5F0"/>
          </a:solidFill>
          <a:ln/>
        </p:spPr>
      </p:sp>
      <p:sp>
        <p:nvSpPr>
          <p:cNvPr id="60" name="Text 58"/>
          <p:cNvSpPr/>
          <p:nvPr/>
        </p:nvSpPr>
        <p:spPr>
          <a:xfrm>
            <a:off x="4873752" y="487375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GPS automatique activé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F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E7C6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— Exemples 5 &amp; 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Commercial &amp; Villa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annonces professionnelles et haut standing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" y="868680"/>
            <a:ext cx="4251960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960120"/>
            <a:ext cx="4069080" cy="292608"/>
          </a:xfrm>
          <a:prstGeom prst="roundRect">
            <a:avLst>
              <a:gd name="adj" fmla="val 18750"/>
            </a:avLst>
          </a:prstGeom>
          <a:solidFill>
            <a:srgbClr val="6A1B9A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9601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Local Commercial — Location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353312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*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84048" y="1517904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1790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🇧🇯  Bénin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31720" y="1353312"/>
            <a:ext cx="20299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 *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331720" y="1517904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4872" y="1517904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Cotonou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1892808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*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84048" y="2057400"/>
            <a:ext cx="397764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57400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60m², centre Haïe Vive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243230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LOYER/MOIS *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84048" y="2596896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59689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 FCFA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331720" y="2432304"/>
            <a:ext cx="20299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331720" y="2596896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04872" y="25968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m²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048" y="2926080"/>
            <a:ext cx="1828800" cy="804672"/>
          </a:xfrm>
          <a:prstGeom prst="roundRect">
            <a:avLst>
              <a:gd name="adj" fmla="val 6818"/>
            </a:avLst>
          </a:prstGeom>
          <a:solidFill>
            <a:srgbClr val="CE93D8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29260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🏪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2331720" y="2926080"/>
            <a:ext cx="2029968" cy="804672"/>
          </a:xfrm>
          <a:prstGeom prst="roundRect">
            <a:avLst>
              <a:gd name="adj" fmla="val 6818"/>
            </a:avLst>
          </a:prstGeom>
          <a:solidFill>
            <a:srgbClr val="E1BEE7"/>
          </a:solidFill>
          <a:ln/>
        </p:spPr>
      </p:sp>
      <p:sp>
        <p:nvSpPr>
          <p:cNvPr id="28" name="Text 26"/>
          <p:cNvSpPr/>
          <p:nvPr/>
        </p:nvSpPr>
        <p:spPr>
          <a:xfrm>
            <a:off x="2331720" y="2926080"/>
            <a:ext cx="2029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84048" y="380390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048" y="4005072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" y="4069080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commercial en rez-de-chaussée, vitrine sur rue passante. Électricité triphasée. Idéal commerce, bureau, agence.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048" y="4873752"/>
            <a:ext cx="3977640" cy="182880"/>
          </a:xfrm>
          <a:prstGeom prst="roundRect">
            <a:avLst>
              <a:gd name="adj" fmla="val 20000"/>
            </a:avLst>
          </a:prstGeom>
          <a:solidFill>
            <a:srgbClr val="E8F5F0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487375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GPS automatique activé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90872" y="868680"/>
            <a:ext cx="4251960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82312" y="960120"/>
            <a:ext cx="4069080" cy="292608"/>
          </a:xfrm>
          <a:prstGeom prst="roundRect">
            <a:avLst>
              <a:gd name="adj" fmla="val 18750"/>
            </a:avLst>
          </a:prstGeom>
          <a:solidFill>
            <a:srgbClr val="283593"/>
          </a:solidFill>
          <a:ln/>
        </p:spPr>
      </p:sp>
      <p:sp>
        <p:nvSpPr>
          <p:cNvPr id="36" name="Text 34"/>
          <p:cNvSpPr/>
          <p:nvPr/>
        </p:nvSpPr>
        <p:spPr>
          <a:xfrm>
            <a:off x="4782312" y="9601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Villa — Vente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73752" y="1353312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*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873752" y="1517904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46904" y="151790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🇲🇱  Mali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21424" y="1353312"/>
            <a:ext cx="20299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 *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821424" y="1517904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94576" y="1517904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Bamako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73752" y="1892808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*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873752" y="2057400"/>
            <a:ext cx="397764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46904" y="2057400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R+1 standing, ACI 2000, piscine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73752" y="243230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*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873752" y="2596896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46904" y="259689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120 000 000 FCFA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21424" y="2432304"/>
            <a:ext cx="20299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CHAMBRES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821424" y="2596896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F0FAF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25968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chambres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73752" y="2926080"/>
            <a:ext cx="1828800" cy="804672"/>
          </a:xfrm>
          <a:prstGeom prst="roundRect">
            <a:avLst>
              <a:gd name="adj" fmla="val 6818"/>
            </a:avLst>
          </a:prstGeom>
          <a:solidFill>
            <a:srgbClr val="9FA8DA"/>
          </a:solidFill>
          <a:ln/>
        </p:spPr>
      </p:sp>
      <p:sp>
        <p:nvSpPr>
          <p:cNvPr id="53" name="Text 51"/>
          <p:cNvSpPr/>
          <p:nvPr/>
        </p:nvSpPr>
        <p:spPr>
          <a:xfrm>
            <a:off x="4873752" y="29260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🏛️</a:t>
            </a:r>
            <a:endParaRPr lang="en-US" sz="2600" dirty="0"/>
          </a:p>
        </p:txBody>
      </p:sp>
      <p:sp>
        <p:nvSpPr>
          <p:cNvPr id="54" name="Shape 52"/>
          <p:cNvSpPr/>
          <p:nvPr/>
        </p:nvSpPr>
        <p:spPr>
          <a:xfrm>
            <a:off x="6821424" y="2926080"/>
            <a:ext cx="2029968" cy="804672"/>
          </a:xfrm>
          <a:prstGeom prst="roundRect">
            <a:avLst>
              <a:gd name="adj" fmla="val 6818"/>
            </a:avLst>
          </a:prstGeom>
          <a:solidFill>
            <a:srgbClr val="7986CB"/>
          </a:solidFill>
          <a:ln/>
        </p:spPr>
      </p:sp>
      <p:sp>
        <p:nvSpPr>
          <p:cNvPr id="55" name="Text 53"/>
          <p:cNvSpPr/>
          <p:nvPr/>
        </p:nvSpPr>
        <p:spPr>
          <a:xfrm>
            <a:off x="6821424" y="2926080"/>
            <a:ext cx="2029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🏊</a:t>
            </a:r>
            <a:endParaRPr lang="en-US" sz="2600" dirty="0"/>
          </a:p>
        </p:txBody>
      </p:sp>
      <p:sp>
        <p:nvSpPr>
          <p:cNvPr id="56" name="Text 54"/>
          <p:cNvSpPr/>
          <p:nvPr/>
        </p:nvSpPr>
        <p:spPr>
          <a:xfrm>
            <a:off x="4873752" y="380390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73752" y="4005072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E8EAF6"/>
          </a:solidFill>
          <a:ln w="12700">
            <a:solidFill>
              <a:srgbClr val="9FA8D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992624" y="4069080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villa avec piscine, jardin arboré, 2 garages, générateur, clôture haute sécurité. ACI 2000 Bamako.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873752" y="4873752"/>
            <a:ext cx="3977640" cy="182880"/>
          </a:xfrm>
          <a:prstGeom prst="roundRect">
            <a:avLst>
              <a:gd name="adj" fmla="val 20000"/>
            </a:avLst>
          </a:prstGeom>
          <a:solidFill>
            <a:srgbClr val="E8F5F0"/>
          </a:solidFill>
          <a:ln/>
        </p:spPr>
      </p:sp>
      <p:sp>
        <p:nvSpPr>
          <p:cNvPr id="60" name="Text 58"/>
          <p:cNvSpPr/>
          <p:nvPr/>
        </p:nvSpPr>
        <p:spPr>
          <a:xfrm>
            <a:off x="4873752" y="487375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GPS automatique activé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F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E7C6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&amp; Réserver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Trouver, réserver, contacter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interactive · Filtres avancés · Paiement mobile money · Contact WhatsApp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841248"/>
            <a:ext cx="4315968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932688"/>
            <a:ext cx="4133088" cy="960120"/>
          </a:xfrm>
          <a:prstGeom prst="roundRect">
            <a:avLst>
              <a:gd name="adj" fmla="val 7619"/>
            </a:avLst>
          </a:prstGeom>
          <a:solidFill>
            <a:srgbClr val="A8D5C2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932688"/>
            <a:ext cx="4133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🏠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38912" y="1965960"/>
            <a:ext cx="3950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meublée 4 pièces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912" y="228600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45 000 000 FCFA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" y="2587752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Ouaga 2000, Burkina Faso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2871216"/>
            <a:ext cx="987552" cy="219456"/>
          </a:xfrm>
          <a:prstGeom prst="roundRect">
            <a:avLst>
              <a:gd name="adj" fmla="val 20833"/>
            </a:avLst>
          </a:prstGeom>
          <a:solidFill>
            <a:srgbClr val="E8F5F0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871216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Meublé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517904" y="2871216"/>
            <a:ext cx="987552" cy="219456"/>
          </a:xfrm>
          <a:prstGeom prst="roundRect">
            <a:avLst>
              <a:gd name="adj" fmla="val 20833"/>
            </a:avLst>
          </a:prstGeom>
          <a:solidFill>
            <a:srgbClr val="E8F5F0"/>
          </a:solidFill>
          <a:ln/>
        </p:spPr>
      </p:sp>
      <p:sp>
        <p:nvSpPr>
          <p:cNvPr id="16" name="Text 14"/>
          <p:cNvSpPr/>
          <p:nvPr/>
        </p:nvSpPr>
        <p:spPr>
          <a:xfrm>
            <a:off x="1517904" y="2871216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96896" y="2871216"/>
            <a:ext cx="987552" cy="219456"/>
          </a:xfrm>
          <a:prstGeom prst="roundRect">
            <a:avLst>
              <a:gd name="adj" fmla="val 20833"/>
            </a:avLst>
          </a:prstGeom>
          <a:solidFill>
            <a:srgbClr val="E8F5F0"/>
          </a:solidFill>
          <a:ln/>
        </p:spPr>
      </p:sp>
      <p:sp>
        <p:nvSpPr>
          <p:cNvPr id="18" name="Text 16"/>
          <p:cNvSpPr/>
          <p:nvPr/>
        </p:nvSpPr>
        <p:spPr>
          <a:xfrm>
            <a:off x="2596896" y="2871216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m²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75888" y="2871216"/>
            <a:ext cx="987552" cy="219456"/>
          </a:xfrm>
          <a:prstGeom prst="roundRect">
            <a:avLst>
              <a:gd name="adj" fmla="val 20833"/>
            </a:avLst>
          </a:prstGeom>
          <a:solidFill>
            <a:srgbClr val="E8F5F0"/>
          </a:solidFill>
          <a:ln/>
        </p:spPr>
      </p:sp>
      <p:sp>
        <p:nvSpPr>
          <p:cNvPr id="20" name="Text 18"/>
          <p:cNvSpPr/>
          <p:nvPr/>
        </p:nvSpPr>
        <p:spPr>
          <a:xfrm>
            <a:off x="3675888" y="2871216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Géolocalisé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8912" y="3154680"/>
            <a:ext cx="3950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moderne, quartier calme, 2 garages, clôture sécurisée, proche commerces.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8912" y="3630168"/>
            <a:ext cx="3950208" cy="868680"/>
          </a:xfrm>
          <a:prstGeom prst="roundRect">
            <a:avLst>
              <a:gd name="adj" fmla="val 6316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630168"/>
            <a:ext cx="3950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Voir sur la carte  —  Position géolocalisée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28032" y="841248"/>
            <a:ext cx="4059936" cy="1938528"/>
          </a:xfrm>
          <a:prstGeom prst="roundRect">
            <a:avLst>
              <a:gd name="adj" fmla="val 3774"/>
            </a:avLst>
          </a:prstGeom>
          <a:solidFill>
            <a:srgbClr val="E8F5F0"/>
          </a:solidFill>
          <a:ln w="12700">
            <a:solidFill>
              <a:srgbClr val="0E7C6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10912" y="932688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ImmoBF (5%)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10912" y="1207008"/>
            <a:ext cx="3694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2 250 000 FCFA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010912" y="1645920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100% sécurisé · mobile money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28032" y="2871216"/>
            <a:ext cx="4059936" cy="329184"/>
          </a:xfrm>
          <a:prstGeom prst="roundRect">
            <a:avLst>
              <a:gd name="adj" fmla="val 16667"/>
            </a:avLst>
          </a:prstGeom>
          <a:solidFill>
            <a:srgbClr val="0E7C66"/>
          </a:solidFill>
          <a:ln/>
        </p:spPr>
      </p:sp>
      <p:sp>
        <p:nvSpPr>
          <p:cNvPr id="29" name="Text 27"/>
          <p:cNvSpPr/>
          <p:nvPr/>
        </p:nvSpPr>
        <p:spPr>
          <a:xfrm>
            <a:off x="4828032" y="2871216"/>
            <a:ext cx="4059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Réserver — Payer la commission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28032" y="3291840"/>
            <a:ext cx="4059936" cy="1847088"/>
          </a:xfrm>
          <a:prstGeom prst="roundRect">
            <a:avLst>
              <a:gd name="adj" fmla="val 3960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10912" y="338328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de paiement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10912" y="3657600"/>
            <a:ext cx="3694176" cy="256032"/>
          </a:xfrm>
          <a:prstGeom prst="roundRect">
            <a:avLst>
              <a:gd name="adj" fmla="val 17857"/>
            </a:avLst>
          </a:prstGeom>
          <a:solidFill>
            <a:srgbClr val="E8F5F0"/>
          </a:solidFill>
          <a:ln w="19050">
            <a:solidFill>
              <a:srgbClr val="0E7C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3657600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BarkaPay — Moov Money BF  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10912" y="3968496"/>
            <a:ext cx="3694176" cy="256032"/>
          </a:xfrm>
          <a:prstGeom prst="roundRect">
            <a:avLst>
              <a:gd name="adj" fmla="val 17857"/>
            </a:avLst>
          </a:prstGeom>
          <a:solidFill>
            <a:srgbClr val="E8F5F0"/>
          </a:solidFill>
          <a:ln w="19050">
            <a:solidFill>
              <a:srgbClr val="0E7C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3968496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+226 78 48 92 70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10912" y="4297680"/>
            <a:ext cx="3694176" cy="658368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/>
        </p:spPr>
      </p:sp>
      <p:sp>
        <p:nvSpPr>
          <p:cNvPr id="37" name="Text 35"/>
          <p:cNvSpPr/>
          <p:nvPr/>
        </p:nvSpPr>
        <p:spPr>
          <a:xfrm>
            <a:off x="5010912" y="431596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Paiement confirmé !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10912" y="461772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Contact WhatsApp annonceur débloqué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F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E7C6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— Inscription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processus, optimisé mobile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804672"/>
            <a:ext cx="1993392" cy="4160520"/>
          </a:xfrm>
          <a:prstGeom prst="roundRect">
            <a:avLst>
              <a:gd name="adj" fmla="val 14679"/>
            </a:avLst>
          </a:prstGeom>
          <a:solidFill>
            <a:srgbClr val="1A1A2E"/>
          </a:solidFill>
          <a:ln w="38100">
            <a:solidFill>
              <a:srgbClr val="2A2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868680"/>
            <a:ext cx="950976" cy="137160"/>
          </a:xfrm>
          <a:prstGeom prst="roundRect">
            <a:avLst>
              <a:gd name="adj" fmla="val 33333"/>
            </a:avLst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042416"/>
            <a:ext cx="1810512" cy="3758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042416"/>
            <a:ext cx="1810512" cy="347472"/>
          </a:xfrm>
          <a:prstGeom prst="rect">
            <a:avLst/>
          </a:prstGeom>
          <a:solidFill>
            <a:srgbClr val="0E7C6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60704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ImmoBF Africa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1225296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compte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31520" y="1481328"/>
            <a:ext cx="1627632" cy="274320"/>
          </a:xfrm>
          <a:prstGeom prst="roundRect">
            <a:avLst>
              <a:gd name="adj" fmla="val 13333"/>
            </a:avLst>
          </a:prstGeom>
          <a:solidFill>
            <a:srgbClr val="E8F5F0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4813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 Mad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" y="2075688"/>
            <a:ext cx="1627632" cy="274320"/>
          </a:xfrm>
          <a:prstGeom prst="roundRect">
            <a:avLst>
              <a:gd name="adj" fmla="val 13333"/>
            </a:avLst>
          </a:prstGeom>
          <a:solidFill>
            <a:srgbClr val="E8F5F0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0756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baba.mad@gmail.com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" y="2670048"/>
            <a:ext cx="1627632" cy="274320"/>
          </a:xfrm>
          <a:prstGeom prst="roundRect">
            <a:avLst>
              <a:gd name="adj" fmla="val 13333"/>
            </a:avLst>
          </a:prstGeom>
          <a:solidFill>
            <a:srgbClr val="E8F5F0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67004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••••••••••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1520" y="3264408"/>
            <a:ext cx="1627632" cy="274320"/>
          </a:xfrm>
          <a:prstGeom prst="roundRect">
            <a:avLst>
              <a:gd name="adj" fmla="val 13333"/>
            </a:avLst>
          </a:prstGeom>
          <a:solidFill>
            <a:srgbClr val="E8F5F0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26440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+226 78 48 92 70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3895344"/>
            <a:ext cx="1627632" cy="274320"/>
          </a:xfrm>
          <a:prstGeom prst="roundRect">
            <a:avLst>
              <a:gd name="adj" fmla="val 13333"/>
            </a:avLst>
          </a:prstGeom>
          <a:solidFill>
            <a:srgbClr val="0E7C6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9534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S'inscrire →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4453128"/>
            <a:ext cx="1810512" cy="347472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47141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636008"/>
            <a:ext cx="4526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092708" y="447141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🔍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2708" y="4636008"/>
            <a:ext cx="4526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Parcourir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545336" y="447141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➕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45336" y="4636008"/>
            <a:ext cx="4526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997964" y="447141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997964" y="4636008"/>
            <a:ext cx="4526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2834640" y="804672"/>
            <a:ext cx="1993392" cy="4160520"/>
          </a:xfrm>
          <a:prstGeom prst="roundRect">
            <a:avLst>
              <a:gd name="adj" fmla="val 14679"/>
            </a:avLst>
          </a:prstGeom>
          <a:solidFill>
            <a:srgbClr val="1A1A2E"/>
          </a:solidFill>
          <a:ln w="38100">
            <a:solidFill>
              <a:srgbClr val="2A2A3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55848" y="868680"/>
            <a:ext cx="950976" cy="137160"/>
          </a:xfrm>
          <a:prstGeom prst="roundRect">
            <a:avLst>
              <a:gd name="adj" fmla="val 33333"/>
            </a:avLst>
          </a:prstGeom>
          <a:solidFill>
            <a:srgbClr val="00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2926080" y="1042416"/>
            <a:ext cx="1810512" cy="3758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926080" y="1042416"/>
            <a:ext cx="1810512" cy="347472"/>
          </a:xfrm>
          <a:prstGeom prst="rect">
            <a:avLst/>
          </a:prstGeom>
          <a:solidFill>
            <a:srgbClr val="0E7C66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0" y="104241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Vérification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926080" y="1426464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📨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2971800" y="195681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Vérifiez votre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boîte mail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971800" y="245973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envoyé à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baba.mad@gmail.com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017520" y="2916936"/>
            <a:ext cx="1627632" cy="502920"/>
          </a:xfrm>
          <a:prstGeom prst="roundRect">
            <a:avLst>
              <a:gd name="adj" fmla="val 10909"/>
            </a:avLst>
          </a:prstGeom>
          <a:solidFill>
            <a:srgbClr val="E8F5F0"/>
          </a:solidFill>
          <a:ln/>
        </p:spPr>
      </p:sp>
      <p:sp>
        <p:nvSpPr>
          <p:cNvPr id="40" name="Text 38"/>
          <p:cNvSpPr/>
          <p:nvPr/>
        </p:nvSpPr>
        <p:spPr>
          <a:xfrm>
            <a:off x="3035808" y="2962656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le lien dans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l'email pour confirmer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017520" y="3511296"/>
            <a:ext cx="1627632" cy="256032"/>
          </a:xfrm>
          <a:prstGeom prst="roundRect">
            <a:avLst>
              <a:gd name="adj" fmla="val 14286"/>
            </a:avLst>
          </a:prstGeom>
          <a:solidFill>
            <a:srgbClr val="0E7C66"/>
          </a:solidFill>
          <a:ln/>
        </p:spPr>
      </p:sp>
      <p:sp>
        <p:nvSpPr>
          <p:cNvPr id="42" name="Text 40"/>
          <p:cNvSpPr/>
          <p:nvPr/>
        </p:nvSpPr>
        <p:spPr>
          <a:xfrm>
            <a:off x="3017520" y="351129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Confirmé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926080" y="4453128"/>
            <a:ext cx="1810512" cy="347472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0" y="447141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🏠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926080" y="4636008"/>
            <a:ext cx="4526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3378708" y="447141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🔍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378708" y="4636008"/>
            <a:ext cx="4526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Parcourir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3831336" y="447141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➕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831336" y="4636008"/>
            <a:ext cx="4526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4283964" y="4471416"/>
            <a:ext cx="452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👤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283964" y="4636008"/>
            <a:ext cx="4526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5212080" y="960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s'inscrire :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212080" y="1389888"/>
            <a:ext cx="274320" cy="27432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596128" y="138988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Remplir nom, email, mot de passe et téléphone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212080" y="2139696"/>
            <a:ext cx="274320" cy="27432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0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596128" y="213969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 « S'inscrire gratuitement »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212080" y="2889504"/>
            <a:ext cx="274320" cy="27432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0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596128" y="288950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l'email → cliquer le lien de confirmation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212080" y="3639312"/>
            <a:ext cx="274320" cy="27432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0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596128" y="363931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activé → publier et réserver immédiatement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212080" y="4480560"/>
            <a:ext cx="3630168" cy="594360"/>
          </a:xfrm>
          <a:prstGeom prst="roundRect">
            <a:avLst>
              <a:gd name="adj" fmla="val 12308"/>
            </a:avLst>
          </a:prstGeom>
          <a:solidFill>
            <a:srgbClr val="E8F5F0"/>
          </a:solidFill>
          <a:ln w="12700">
            <a:solidFill>
              <a:srgbClr val="0E7C6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5376672" y="4572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Disponible sur Android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376672" y="47914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Téléchargeable sur Google Play — version iOS bientôt disponible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F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E7C6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— Publication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· GPS automatique · Brouillon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804672"/>
            <a:ext cx="2103120" cy="4160520"/>
          </a:xfrm>
          <a:prstGeom prst="roundRect">
            <a:avLst>
              <a:gd name="adj" fmla="val 13913"/>
            </a:avLst>
          </a:prstGeom>
          <a:solidFill>
            <a:srgbClr val="1A1A2E"/>
          </a:solidFill>
          <a:ln w="38100">
            <a:solidFill>
              <a:srgbClr val="2A2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90472" y="868680"/>
            <a:ext cx="950976" cy="137160"/>
          </a:xfrm>
          <a:prstGeom prst="roundRect">
            <a:avLst>
              <a:gd name="adj" fmla="val 33333"/>
            </a:avLst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042416"/>
            <a:ext cx="1920240" cy="3758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042416"/>
            <a:ext cx="1920240" cy="347472"/>
          </a:xfrm>
          <a:prstGeom prst="rect">
            <a:avLst/>
          </a:prstGeom>
          <a:solidFill>
            <a:srgbClr val="0E7C6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0424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Publier une annonce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97280" y="148132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E8F5F0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148132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🇧🇫 Burkina · Bobo-Dioulasso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097280" y="1975104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E8F5F0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197510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Maison · Vente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97280" y="2468880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E8F5F0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246888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Maison 3 pièces, Sect. 25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97280" y="2962656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E8F5F0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296265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22 000 000 FCFA · 3ch.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097280" y="3493008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5112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GPS détecté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12.3522° N, 1.5054° W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97280" y="3950208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E8F5F0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39502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4  🎥 1  ✅ GPS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97280" y="4379976"/>
            <a:ext cx="841248" cy="256032"/>
          </a:xfrm>
          <a:prstGeom prst="roundRect">
            <a:avLst>
              <a:gd name="adj" fmla="val 14286"/>
            </a:avLst>
          </a:prstGeom>
          <a:solidFill>
            <a:srgbClr val="0E7C66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437997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93392" y="4379976"/>
            <a:ext cx="841248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93392" y="437997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05840" y="4453128"/>
            <a:ext cx="1920240" cy="347472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471416"/>
            <a:ext cx="4800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🏠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636008"/>
            <a:ext cx="4800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485900" y="4471416"/>
            <a:ext cx="4800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🔍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85900" y="4636008"/>
            <a:ext cx="4800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Parcourir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965960" y="4471416"/>
            <a:ext cx="4800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➕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965960" y="4636008"/>
            <a:ext cx="4800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2446020" y="4471416"/>
            <a:ext cx="4800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👤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446020" y="4636008"/>
            <a:ext cx="4800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3566160" y="9601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publier :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566160" y="1389888"/>
            <a:ext cx="274320" cy="27432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38" name="Text 36"/>
          <p:cNvSpPr/>
          <p:nvPr/>
        </p:nvSpPr>
        <p:spPr>
          <a:xfrm>
            <a:off x="356616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950208" y="138988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pays et ville (liste par pays)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566160" y="1920240"/>
            <a:ext cx="274320" cy="27432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41" name="Text 39"/>
          <p:cNvSpPr/>
          <p:nvPr/>
        </p:nvSpPr>
        <p:spPr>
          <a:xfrm>
            <a:off x="356616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950208" y="192024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type de bien et transaction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566160" y="2450592"/>
            <a:ext cx="274320" cy="27432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44" name="Text 42"/>
          <p:cNvSpPr/>
          <p:nvPr/>
        </p:nvSpPr>
        <p:spPr>
          <a:xfrm>
            <a:off x="3566160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950208" y="245059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titre, prix, superficie, chambres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566160" y="2980944"/>
            <a:ext cx="274320" cy="27432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47" name="Text 45"/>
          <p:cNvSpPr/>
          <p:nvPr/>
        </p:nvSpPr>
        <p:spPr>
          <a:xfrm>
            <a:off x="3566160" y="2980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950208" y="298094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photos depuis galerie ou caméra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566160" y="3511296"/>
            <a:ext cx="274320" cy="27432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50" name="Text 48"/>
          <p:cNvSpPr/>
          <p:nvPr/>
        </p:nvSpPr>
        <p:spPr>
          <a:xfrm>
            <a:off x="356616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950208" y="351129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automatique — localise l'annonce sur la carte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566160" y="4041648"/>
            <a:ext cx="274320" cy="27432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53" name="Text 51"/>
          <p:cNvSpPr/>
          <p:nvPr/>
        </p:nvSpPr>
        <p:spPr>
          <a:xfrm>
            <a:off x="3566160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950208" y="404164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la position sur la mini-carte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566160" y="4572000"/>
            <a:ext cx="274320" cy="27432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56" name="Text 54"/>
          <p:cNvSpPr/>
          <p:nvPr/>
        </p:nvSpPr>
        <p:spPr>
          <a:xfrm>
            <a:off x="356616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950208" y="457200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et payer 5 000 FCFA par mobile money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566160" y="4590288"/>
            <a:ext cx="5257800" cy="548640"/>
          </a:xfrm>
          <a:prstGeom prst="roundRect">
            <a:avLst>
              <a:gd name="adj" fmla="val 13333"/>
            </a:avLst>
          </a:prstGeom>
          <a:solidFill>
            <a:srgbClr val="E8F5F0"/>
          </a:solidFill>
          <a:ln w="12700">
            <a:solidFill>
              <a:srgbClr val="0E7C6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3730752" y="4133088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Géolocalisation automatique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730752" y="4361688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détecte automatiquement vos coordonnées GPS pour positionner votre bien sur la carte. Pas besoin de saisir une adresse.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F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E7C6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— Réservation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0" y="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mobile money · WhatsApp direct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804672"/>
            <a:ext cx="2103120" cy="4160520"/>
          </a:xfrm>
          <a:prstGeom prst="roundRect">
            <a:avLst>
              <a:gd name="adj" fmla="val 13913"/>
            </a:avLst>
          </a:prstGeom>
          <a:solidFill>
            <a:srgbClr val="1A1A2E"/>
          </a:solidFill>
          <a:ln w="38100">
            <a:solidFill>
              <a:srgbClr val="2A2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90472" y="868680"/>
            <a:ext cx="950976" cy="137160"/>
          </a:xfrm>
          <a:prstGeom prst="roundRect">
            <a:avLst>
              <a:gd name="adj" fmla="val 33333"/>
            </a:avLst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042416"/>
            <a:ext cx="1920240" cy="3758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042416"/>
            <a:ext cx="1920240" cy="347472"/>
          </a:xfrm>
          <a:prstGeom prst="rect">
            <a:avLst/>
          </a:prstGeom>
          <a:solidFill>
            <a:srgbClr val="0E7C6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0424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Villa meublée 4 pièces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78992" y="142646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45 000 000 FCFA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170078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Ouaga 2000  ·  4 ch. · 200m²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078992" y="1956816"/>
            <a:ext cx="1773936" cy="475488"/>
          </a:xfrm>
          <a:prstGeom prst="roundRect">
            <a:avLst>
              <a:gd name="adj" fmla="val 11538"/>
            </a:avLst>
          </a:prstGeom>
          <a:solidFill>
            <a:srgbClr val="E8F5F0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2002536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(5%)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15568" y="2185416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2 250 000 FCFA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78992" y="2523744"/>
            <a:ext cx="1773936" cy="256032"/>
          </a:xfrm>
          <a:prstGeom prst="roundRect">
            <a:avLst>
              <a:gd name="adj" fmla="val 14286"/>
            </a:avLst>
          </a:prstGeom>
          <a:solidFill>
            <a:srgbClr val="0E7C66"/>
          </a:solidFill>
          <a:ln/>
        </p:spPr>
      </p:sp>
      <p:sp>
        <p:nvSpPr>
          <p:cNvPr id="17" name="Text 15"/>
          <p:cNvSpPr/>
          <p:nvPr/>
        </p:nvSpPr>
        <p:spPr>
          <a:xfrm>
            <a:off x="1078992" y="252374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RÉSERVER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78992" y="2871216"/>
            <a:ext cx="1773936" cy="237744"/>
          </a:xfrm>
          <a:prstGeom prst="roundRect">
            <a:avLst>
              <a:gd name="adj" fmla="val 15385"/>
            </a:avLst>
          </a:prstGeom>
          <a:solidFill>
            <a:srgbClr val="E8F5F0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287121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BarkaPay — Moov Money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078992" y="3163824"/>
            <a:ext cx="1773936" cy="237744"/>
          </a:xfrm>
          <a:prstGeom prst="roundRect">
            <a:avLst>
              <a:gd name="adj" fmla="val 15385"/>
            </a:avLst>
          </a:prstGeom>
          <a:solidFill>
            <a:srgbClr val="E8F5F0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3163824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78 48 92 70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078992" y="3493008"/>
            <a:ext cx="1773936" cy="502920"/>
          </a:xfrm>
          <a:prstGeom prst="roundRect">
            <a:avLst>
              <a:gd name="adj" fmla="val 10909"/>
            </a:avLst>
          </a:prstGeom>
          <a:solidFill>
            <a:srgbClr val="E8F5E9"/>
          </a:solidFill>
          <a:ln/>
        </p:spPr>
      </p:sp>
      <p:sp>
        <p:nvSpPr>
          <p:cNvPr id="23" name="Text 21"/>
          <p:cNvSpPr/>
          <p:nvPr/>
        </p:nvSpPr>
        <p:spPr>
          <a:xfrm>
            <a:off x="1078992" y="352958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Paiement confirmé !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" y="3749040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WhatsApp débloqué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078992" y="4078224"/>
            <a:ext cx="1773936" cy="256032"/>
          </a:xfrm>
          <a:prstGeom prst="roundRect">
            <a:avLst>
              <a:gd name="adj" fmla="val 14286"/>
            </a:avLst>
          </a:prstGeom>
          <a:solidFill>
            <a:srgbClr val="25D366"/>
          </a:solidFill>
          <a:ln/>
        </p:spPr>
      </p:sp>
      <p:sp>
        <p:nvSpPr>
          <p:cNvPr id="26" name="Text 24"/>
          <p:cNvSpPr/>
          <p:nvPr/>
        </p:nvSpPr>
        <p:spPr>
          <a:xfrm>
            <a:off x="1078992" y="40782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WhatsApp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05840" y="4453128"/>
            <a:ext cx="1920240" cy="347472"/>
          </a:xfrm>
          <a:prstGeom prst="rect">
            <a:avLst/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471416"/>
            <a:ext cx="4800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🏠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636008"/>
            <a:ext cx="4800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485900" y="4471416"/>
            <a:ext cx="4800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🔍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85900" y="4636008"/>
            <a:ext cx="4800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Parcourir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965960" y="4471416"/>
            <a:ext cx="4800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➕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965960" y="4636008"/>
            <a:ext cx="4800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2446020" y="4471416"/>
            <a:ext cx="4800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👤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446020" y="4636008"/>
            <a:ext cx="4800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3566160" y="9601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réserver :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566160" y="1389888"/>
            <a:ext cx="274320" cy="27432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38" name="Text 36"/>
          <p:cNvSpPr/>
          <p:nvPr/>
        </p:nvSpPr>
        <p:spPr>
          <a:xfrm>
            <a:off x="356616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950208" y="1389888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la fiche annonce → RÉSERVER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566160" y="2048256"/>
            <a:ext cx="274320" cy="27432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41" name="Text 39"/>
          <p:cNvSpPr/>
          <p:nvPr/>
        </p:nvSpPr>
        <p:spPr>
          <a:xfrm>
            <a:off x="3566160" y="2048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950208" y="2048256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l'opérateur : Moov, Orange, Wave…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566160" y="2706624"/>
            <a:ext cx="274320" cy="27432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44" name="Text 42"/>
          <p:cNvSpPr/>
          <p:nvPr/>
        </p:nvSpPr>
        <p:spPr>
          <a:xfrm>
            <a:off x="3566160" y="2706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950208" y="2706624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votre numéro de téléphone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566160" y="3364992"/>
            <a:ext cx="274320" cy="27432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47" name="Text 45"/>
          <p:cNvSpPr/>
          <p:nvPr/>
        </p:nvSpPr>
        <p:spPr>
          <a:xfrm>
            <a:off x="356616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950208" y="3364992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la notification USSD sur votre téléphone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3566160" y="4023360"/>
            <a:ext cx="274320" cy="27432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50" name="Text 48"/>
          <p:cNvSpPr/>
          <p:nvPr/>
        </p:nvSpPr>
        <p:spPr>
          <a:xfrm>
            <a:off x="356616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950208" y="4023360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Paiement confirmé → contact WhatsApp débloqué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566160" y="470916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E8F5F0"/>
          </a:solidFill>
          <a:ln w="12700">
            <a:solidFill>
              <a:srgbClr val="0E7C6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3730752" y="4773168"/>
            <a:ext cx="4919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Opérateurs disponibles : Orange Money · Moov Money · Wave · BarkaPay · PawaPay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2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A5C4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822192"/>
            <a:ext cx="9144000" cy="1321308"/>
          </a:xfrm>
          <a:prstGeom prst="rect">
            <a:avLst/>
          </a:prstGeom>
          <a:solidFill>
            <a:srgbClr val="0A3D33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4173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ImmoBF Africa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L'immobilier africain, simplifié.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298448" y="2944368"/>
            <a:ext cx="2011680" cy="329184"/>
          </a:xfrm>
          <a:prstGeom prst="roundRect">
            <a:avLst>
              <a:gd name="adj" fmla="val 33333"/>
            </a:avLst>
          </a:prstGeom>
          <a:solidFill>
            <a:srgbClr val="1A4A40"/>
          </a:solidFill>
          <a:ln w="12700">
            <a:solidFill>
              <a:srgbClr val="2A7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29443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immoafrica.online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84448" y="2944368"/>
            <a:ext cx="2011680" cy="329184"/>
          </a:xfrm>
          <a:prstGeom prst="roundRect">
            <a:avLst>
              <a:gd name="adj" fmla="val 33333"/>
            </a:avLst>
          </a:prstGeom>
          <a:solidFill>
            <a:srgbClr val="1A4A40"/>
          </a:solidFill>
          <a:ln w="12700">
            <a:solidFill>
              <a:srgbClr val="2A7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29443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Google Play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70448" y="2944368"/>
            <a:ext cx="2011680" cy="329184"/>
          </a:xfrm>
          <a:prstGeom prst="roundRect">
            <a:avLst>
              <a:gd name="adj" fmla="val 33333"/>
            </a:avLst>
          </a:prstGeom>
          <a:solidFill>
            <a:srgbClr val="1A4A40"/>
          </a:solidFill>
          <a:ln w="12700">
            <a:solidFill>
              <a:srgbClr val="2A7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0448" y="29443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contact@immoafrica.online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0" y="4224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🇧🇫 Burkina  ·  🇨🇮 Côte d'Ivoire  ·  🇸🇳 Sénégal  ·  🇲🇱 Mali  ·  🇹🇬 Togo  ·  🇧🇯 Bénin  ·  🇳🇪 Niger  ·  et toute l'Afrique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ImmoBF Africa — Démo guidée</dc:title>
  <dc:subject>PptxGenJS Presentation</dc:subject>
  <dc:creator>PptxGenJS</dc:creator>
  <cp:lastModifiedBy>PptxGenJS</cp:lastModifiedBy>
  <cp:revision>1</cp:revision>
  <dcterms:created xsi:type="dcterms:W3CDTF">2026-08-25T13:49:55Z</dcterms:created>
  <dcterms:modified xsi:type="dcterms:W3CDTF">2026-08-25T13:49:55Z</dcterms:modified>
</cp:coreProperties>
</file>